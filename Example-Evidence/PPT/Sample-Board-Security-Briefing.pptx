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"/>
            <a:ext cx="9144000" cy="2651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0"/>
            <a:ext cx="9144000" cy="24048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0" kern="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Briefing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| NovaTech Corp | Board of Directors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64008" cy="22860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62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Risk Posture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64008" cy="22860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64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Journey Update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64008" cy="22860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Incidents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64008" cy="22860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Decisions Required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64008" cy="22860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71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4800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BOARD CONFIDENTIAL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5102352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 Three Minutes — Q1 2025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4023360" cy="356616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Risk — Manageable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3566160" cy="27432"/>
          </a:xfrm>
          <a:prstGeom prst="rect">
            <a:avLst/>
          </a:prstGeom>
          <a:solidFill>
            <a:srgbClr val="3A5B8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6974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security programme is maturing. The majority of identified risks are in active remediation. Our AMBER status reflects three known gaps with funded plans in place: vendor risk, privileged access, and network segmentation. We are on track for ISO 27001 certification in Q4 2025. No material breach occurred in Q1 2025.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CISO, NovaTech Corp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143000"/>
            <a:ext cx="425196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THINGS BOARD SHOULD KNOW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463040"/>
            <a:ext cx="594360" cy="96012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46304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30368" y="1517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Breach in Q1 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0368" y="1783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security incidents contained and resolved. No customer data compromised. ICO notification not required for any incident.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532888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532888"/>
            <a:ext cx="594360" cy="96012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532888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30368" y="25877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Certification: On Track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0368" y="2852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control maturity achieved. Stage 1 audit booked for August 2025. Q4 2025 certification target remains achievable.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3602736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3602736"/>
            <a:ext cx="594360" cy="96012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602736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30368" y="3657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Actions Need Board Approval Today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0368" y="392277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programme, PAM solution (£85k), and network segmentation (£120k) require board approval to proceed.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NovaTech Corp | Board Confidential  |  Confidential  |  Q1 2025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Programme Health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Across Key Security Domains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64008" cy="804672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25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Policy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25296"/>
            <a:ext cx="685800" cy="22860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2252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2560320" cy="14630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08760"/>
            <a:ext cx="1997050" cy="146304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4721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16824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Board-approved IS Policy. RACI complete. Committees established.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170432"/>
            <a:ext cx="64008" cy="804672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225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35240" y="1225296"/>
            <a:ext cx="685800" cy="228600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12252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46320" y="1508760"/>
            <a:ext cx="2560320" cy="14630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1508760"/>
            <a:ext cx="1664208" cy="146304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14721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16824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active. FAIR model piloted. 3 risks overdue for treatment.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20848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084832"/>
            <a:ext cx="64008" cy="804672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1396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Journey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139696"/>
            <a:ext cx="685800" cy="228600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21396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423160"/>
            <a:ext cx="2560320" cy="14630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423160"/>
            <a:ext cx="1587398" cy="146304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31" name="Text 29"/>
          <p:cNvSpPr/>
          <p:nvPr/>
        </p:nvSpPr>
        <p:spPr>
          <a:xfrm>
            <a:off x="3108960" y="23865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2596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maturity. Stage 1 audit Aug 2025. 31 critical controls in progress.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09160" y="20848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084832"/>
            <a:ext cx="64008" cy="8046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1396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35240" y="2139696"/>
            <a:ext cx="685800" cy="2286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7635240" y="21396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2423160"/>
            <a:ext cx="2560320" cy="14630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0" y="2423160"/>
            <a:ext cx="1280160" cy="14630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0" y="23865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2596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critical vendors unassessed. Programme funding required immediately.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29992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2999232"/>
            <a:ext cx="64008" cy="804672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0540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46120" y="3054096"/>
            <a:ext cx="685800" cy="22860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46" name="Text 44"/>
          <p:cNvSpPr/>
          <p:nvPr/>
        </p:nvSpPr>
        <p:spPr>
          <a:xfrm>
            <a:off x="3246120" y="3054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3337560"/>
            <a:ext cx="2560320" cy="14630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8" name="Shape 46"/>
          <p:cNvSpPr/>
          <p:nvPr/>
        </p:nvSpPr>
        <p:spPr>
          <a:xfrm>
            <a:off x="457200" y="3337560"/>
            <a:ext cx="2176272" cy="146304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49" name="Text 47"/>
          <p:cNvSpPr/>
          <p:nvPr/>
        </p:nvSpPr>
        <p:spPr>
          <a:xfrm>
            <a:off x="3108960" y="33009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35112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plan tested Q4 2024. All P1/P2 SLAs met. Playbooks updated.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709160" y="29992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09160" y="2999232"/>
            <a:ext cx="64008" cy="804672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30540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35240" y="3054096"/>
            <a:ext cx="685800" cy="228600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55" name="Text 53"/>
          <p:cNvSpPr/>
          <p:nvPr/>
        </p:nvSpPr>
        <p:spPr>
          <a:xfrm>
            <a:off x="7635240" y="30540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46320" y="3337560"/>
            <a:ext cx="2560320" cy="14630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7" name="Shape 55"/>
          <p:cNvSpPr/>
          <p:nvPr/>
        </p:nvSpPr>
        <p:spPr>
          <a:xfrm>
            <a:off x="4846320" y="3337560"/>
            <a:ext cx="1408176" cy="146304"/>
          </a:xfrm>
          <a:prstGeom prst="rect">
            <a:avLst/>
          </a:prstGeom>
          <a:solidFill>
            <a:srgbClr val="E26B0A"/>
          </a:solidFill>
          <a:ln/>
        </p:spPr>
      </p:sp>
      <p:sp>
        <p:nvSpPr>
          <p:cNvPr id="58" name="Text 56"/>
          <p:cNvSpPr/>
          <p:nvPr/>
        </p:nvSpPr>
        <p:spPr>
          <a:xfrm>
            <a:off x="7498080" y="33009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6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46320" y="35112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91% coverage. PAM gap — approval required. Q2 2025 target: 100%.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20040" y="39136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0040" y="3913632"/>
            <a:ext cx="64008" cy="8046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3968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46120" y="3968496"/>
            <a:ext cx="685800" cy="2286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4" name="Text 62"/>
          <p:cNvSpPr/>
          <p:nvPr/>
        </p:nvSpPr>
        <p:spPr>
          <a:xfrm>
            <a:off x="3246120" y="39684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" y="4251960"/>
            <a:ext cx="2560320" cy="14630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6" name="Shape 64"/>
          <p:cNvSpPr/>
          <p:nvPr/>
        </p:nvSpPr>
        <p:spPr>
          <a:xfrm>
            <a:off x="457200" y="4251960"/>
            <a:ext cx="1024128" cy="14630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7" name="Text 65"/>
          <p:cNvSpPr/>
          <p:nvPr/>
        </p:nvSpPr>
        <p:spPr>
          <a:xfrm>
            <a:off x="3108960" y="42153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57200" y="4425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scans inconsistent. 12 high CVEs outstanding. Programme launching Q2.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709160" y="3913632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09160" y="3913632"/>
            <a:ext cx="64008" cy="804672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71" name="Text 69"/>
          <p:cNvSpPr/>
          <p:nvPr/>
        </p:nvSpPr>
        <p:spPr>
          <a:xfrm>
            <a:off x="4846320" y="3968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635240" y="3968496"/>
            <a:ext cx="685800" cy="22860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73" name="Text 71"/>
          <p:cNvSpPr/>
          <p:nvPr/>
        </p:nvSpPr>
        <p:spPr>
          <a:xfrm>
            <a:off x="7635240" y="39684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846320" y="4251960"/>
            <a:ext cx="2560320" cy="14630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5" name="Shape 73"/>
          <p:cNvSpPr/>
          <p:nvPr/>
        </p:nvSpPr>
        <p:spPr>
          <a:xfrm>
            <a:off x="4846320" y="4251960"/>
            <a:ext cx="2483510" cy="146304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76" name="Text 74"/>
          <p:cNvSpPr/>
          <p:nvPr/>
        </p:nvSpPr>
        <p:spPr>
          <a:xfrm>
            <a:off x="7498080" y="42153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4846320" y="4425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training completion. Phishing simulation: 4% click rate (down from 9%).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9" name="Text 77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NovaTech Corp | Board Confidential  |  Confidential  |  Q1 2025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Investment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Summary and Approvals Required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850392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43000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SECURITY SPEND vs BUDGET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320040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63040"/>
            <a:ext cx="3127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20440" y="1463040"/>
            <a:ext cx="146304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463040"/>
            <a:ext cx="13898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Budget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463040"/>
            <a:ext cx="128016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46304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Spend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1463040"/>
            <a:ext cx="128016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6304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43800" y="1463040"/>
            <a:ext cx="128016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46304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874520"/>
            <a:ext cx="320040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74520"/>
            <a:ext cx="3127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Training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1874520"/>
            <a:ext cx="146304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874520"/>
            <a:ext cx="13898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£85,000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1874520"/>
            <a:ext cx="128016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87452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£21,250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1874520"/>
            <a:ext cx="1280160" cy="374904"/>
          </a:xfrm>
          <a:prstGeom prst="rect">
            <a:avLst/>
          </a:prstGeom>
          <a:solidFill>
            <a:srgbClr val="A9D18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87452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543800" y="1874520"/>
            <a:ext cx="128016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187452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286000"/>
            <a:ext cx="32004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286000"/>
            <a:ext cx="3127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0440" y="2286000"/>
            <a:ext cx="14630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2286000"/>
            <a:ext cx="13898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£120,000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2286000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28600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£28,400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2286000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28600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-£1,600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43800" y="2286000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228600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Underspend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2697480"/>
            <a:ext cx="320040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697480"/>
            <a:ext cx="3127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20440" y="2697480"/>
            <a:ext cx="146304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0" y="2697480"/>
            <a:ext cx="13898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£65,000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83480" y="2697480"/>
            <a:ext cx="128016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269748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£18,200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63640" y="2697480"/>
            <a:ext cx="1280160" cy="374904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69748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+£2,700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43800" y="2697480"/>
            <a:ext cx="128016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269748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Overspend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3108960"/>
            <a:ext cx="32004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108960"/>
            <a:ext cx="3127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520440" y="3108960"/>
            <a:ext cx="14630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6160" y="3108960"/>
            <a:ext cx="13898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£30,000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83480" y="3108960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310896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63640" y="3108960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310896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-£7,500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43800" y="3108960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310896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Underspend — Q2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0040" y="3520440"/>
            <a:ext cx="320040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3520440"/>
            <a:ext cx="3127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520440" y="3520440"/>
            <a:ext cx="146304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66160" y="3520440"/>
            <a:ext cx="13898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£15,000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983480" y="3520440"/>
            <a:ext cx="128016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0" y="352044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£3,100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63640" y="3520440"/>
            <a:ext cx="1280160" cy="374904"/>
          </a:xfrm>
          <a:prstGeom prst="rect">
            <a:avLst/>
          </a:prstGeom>
          <a:solidFill>
            <a:srgbClr val="A9D18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352044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543800" y="3520440"/>
            <a:ext cx="1280160" cy="374904"/>
          </a:xfrm>
          <a:prstGeom prst="rect">
            <a:avLst/>
          </a:prstGeom>
          <a:solidFill>
            <a:srgbClr val="D6E4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89520" y="352044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Budget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0040" y="3931920"/>
            <a:ext cx="320040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3931920"/>
            <a:ext cx="31272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520440" y="3931920"/>
            <a:ext cx="146304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66160" y="3931920"/>
            <a:ext cx="13898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£315,000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983480" y="3931920"/>
            <a:ext cx="128016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0" y="393192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£70,950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63640" y="3931920"/>
            <a:ext cx="128016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09360" y="393192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-£6,400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543800" y="3931920"/>
            <a:ext cx="1280160" cy="374904"/>
          </a:xfrm>
          <a:prstGeom prst="rect">
            <a:avLst/>
          </a:prstGeom>
          <a:solidFill>
            <a:srgbClr val="1B3A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89520" y="3931920"/>
            <a:ext cx="12070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0040" y="4343400"/>
            <a:ext cx="8503920" cy="25603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79" name="Text 77"/>
          <p:cNvSpPr/>
          <p:nvPr/>
        </p:nvSpPr>
        <p:spPr>
          <a:xfrm>
            <a:off x="411480" y="4343400"/>
            <a:ext cx="8366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APPROVAL REQUESTED — ADDITIONAL INVESTMENT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20040" y="4663440"/>
            <a:ext cx="2697480" cy="411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393192" y="4681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Solution (CyberArk / BeyondTrust)
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£85,000 — URGENT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218688" y="4663440"/>
            <a:ext cx="2697480" cy="411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3291840" y="4681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Project
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£120,000 — HIGH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117336" y="4663440"/>
            <a:ext cx="2697480" cy="411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6190488" y="4681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Solution (Microsoft Purview)
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£45,000 — HIGH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7" name="Text 85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NovaTech Corp | Board Confidential  |  Confidential  |  Q1 2025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Security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Programme Milestones —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2011680" cy="34747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90472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Risk Register updated (47 risks)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93192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Security Awareness: 97% complete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GDPR DPIA process established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CyberEssentials Plus maintained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3192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Vendor risk gap identified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96312" y="1143000"/>
            <a:ext cx="2011680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2569464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96312" y="1490472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9464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PAM deployment (Apr–May)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69464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Network segmentation (May–Jun)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9464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Vendor risk catchup (all critical)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69464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Vulnerability programme launch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69464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ISO 27001 Stage 1 readiness review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72584" y="1143000"/>
            <a:ext cx="201168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1"/>
          <p:cNvSpPr/>
          <p:nvPr/>
        </p:nvSpPr>
        <p:spPr>
          <a:xfrm>
            <a:off x="4745736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72584" y="1490472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ISO 27001 Stage 1 Audit (Aug)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45736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DLP implementation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45736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NIST CSF maturity: Tier 3 target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45736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BCP/DR live test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45736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Q3 Board security briefing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48856" y="1143000"/>
            <a:ext cx="2011680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9"/>
          <p:cNvSpPr/>
          <p:nvPr/>
        </p:nvSpPr>
        <p:spPr>
          <a:xfrm>
            <a:off x="6922008" y="1143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8856" y="1490472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22008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ISO 27001 Stage 2 Audit (Oct)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22008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ISO 27001 Certification target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22008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PCI-DSS GAP remediation complete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22008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Annual GRC programme review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22008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2026 security strategy to Board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4800600"/>
            <a:ext cx="85039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61772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Primary 2025 Goal: Achieve ISO 27001:2022 Certification by Q4 2025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9011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NovaTech Corp | Board Confidential  |  Confidential  |  Q1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Board Report: July 2025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2286000" cy="1188720"/>
          </a:xfrm>
          <a:prstGeom prst="rect">
            <a:avLst/>
          </a:prstGeom>
          <a:solidFill>
            <a:srgbClr val="22457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200400"/>
            <a:ext cx="2286000" cy="7315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630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ciso@novatech.com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programme enquiries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0" y="3200400"/>
            <a:ext cx="2286000" cy="1188720"/>
          </a:xfrm>
          <a:prstGeom prst="rect">
            <a:avLst/>
          </a:prstGeom>
          <a:solidFill>
            <a:srgbClr val="22457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3200400"/>
            <a:ext cx="2286000" cy="7315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630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dpo@novatech.com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and GDPR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0" y="3200400"/>
            <a:ext cx="2286000" cy="1188720"/>
          </a:xfrm>
          <a:prstGeom prst="rect">
            <a:avLst/>
          </a:prstGeom>
          <a:solidFill>
            <a:srgbClr val="22457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3200400"/>
            <a:ext cx="2286000" cy="73152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Programme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6301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grc@novatech.com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3867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audit enquiries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Board Security Briefing — Q1 2025</dc:title>
  <dc:subject>PptxGenJS Presentation</dc:subject>
  <dc:creator>PptxGenJS</dc:creator>
  <cp:lastModifiedBy>PptxGenJS</cp:lastModifiedBy>
  <cp:revision>1</cp:revision>
  <dcterms:created xsi:type="dcterms:W3CDTF">2026-03-11T18:43:09Z</dcterms:created>
  <dcterms:modified xsi:type="dcterms:W3CDTF">2026-03-11T18:43:09Z</dcterms:modified>
</cp:coreProperties>
</file>