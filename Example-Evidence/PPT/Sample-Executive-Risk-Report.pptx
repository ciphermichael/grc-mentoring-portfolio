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Q3 2024</c:v>
                  </c:pt>
                  <c:pt idx="1">
                    <c:v>Q4 2024</c:v>
                  </c:pt>
                  <c:pt idx="2">
                    <c:v>Q1 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E26B0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Q3 2024</c:v>
                  </c:pt>
                  <c:pt idx="1">
                    <c:v>Q4 2024</c:v>
                  </c:pt>
                  <c:pt idx="2">
                    <c:v>Q1 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</c:v>
                </c:pt>
                <c:pt idx="1">
                  <c:v>17</c:v>
                </c:pt>
                <c:pt idx="2">
                  <c:v>18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FFCC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Q3 2024</c:v>
                  </c:pt>
                  <c:pt idx="1">
                    <c:v>Q4 2024</c:v>
                  </c:pt>
                  <c:pt idx="2">
                    <c:v>Q1 2025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19</c:v>
                </c:pt>
                <c:pt idx="1">
                  <c:v>19</c:v>
                </c:pt>
                <c:pt idx="2">
                  <c:v>21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375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Q3 2024</c:v>
                  </c:pt>
                  <c:pt idx="1">
                    <c:v>Q4 2024</c:v>
                  </c:pt>
                  <c:pt idx="2">
                    <c:v>Q1 2025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7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D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D3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800" kern="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Risk Report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 — January to March 2025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3108960"/>
            <a:ext cx="22860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2461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TechCorp Limited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5204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CONFIDENTIAL — Board Distribution Only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794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GRC Programme Office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5102352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 — Cybersecurity Risk Posture at a Glance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88720"/>
            <a:ext cx="2286000" cy="1280160"/>
          </a:xfrm>
          <a:prstGeom prst="rect">
            <a:avLst/>
          </a:prstGeom>
          <a:solidFill>
            <a:srgbClr val="E26B0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07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STATUS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Risk — Action Required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834640" y="1188720"/>
            <a:ext cx="1097280" cy="914400"/>
          </a:xfrm>
          <a:prstGeom prst="rect">
            <a:avLst/>
          </a:prstGeom>
          <a:solidFill>
            <a:srgbClr val="E26B0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34640" y="12070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Mgmt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834640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050792" y="1188720"/>
            <a:ext cx="1097280" cy="914400"/>
          </a:xfrm>
          <a:prstGeom prst="rect">
            <a:avLst/>
          </a:prstGeom>
          <a:solidFill>
            <a:srgbClr val="37562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50792" y="12070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50792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266944" y="1188720"/>
            <a:ext cx="1097280" cy="914400"/>
          </a:xfrm>
          <a:prstGeom prst="rect">
            <a:avLst/>
          </a:prstGeom>
          <a:solidFill>
            <a:srgbClr val="37562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66944" y="12070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66944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83096" y="1188720"/>
            <a:ext cx="1097280" cy="914400"/>
          </a:xfrm>
          <a:prstGeom prst="rect">
            <a:avLst/>
          </a:prstGeom>
          <a:solidFill>
            <a:srgbClr val="C0000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83096" y="12070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Risk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83096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699248" y="1188720"/>
            <a:ext cx="1097280" cy="914400"/>
          </a:xfrm>
          <a:prstGeom prst="rect">
            <a:avLst/>
          </a:prstGeom>
          <a:solidFill>
            <a:srgbClr val="E26B0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99248" y="12070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Ctrl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699248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20040" y="2606040"/>
            <a:ext cx="8503920" cy="256032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2606040"/>
            <a:ext cx="8366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HEADLINES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2926080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</a:t>
            </a:r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50% of critical vendors have not been assessed in 12+ months — immediate action required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3273552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</a:t>
            </a:r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Privileged Access Management gap — shared admin accounts identified; PAM solution required by Q2 2025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3621024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</a:t>
            </a:r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Network segmentation absent — flat network architecture increases lateral movement risk significantly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" y="3968496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</a:t>
            </a:r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POSITIVE: Security awareness training achieved 97% completion — maintaining strong human firewall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431596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</a:t>
            </a:r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POSITIVE: All P1 incidents resolved within SLA in Q1 — incident response process performing well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9011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TechCorp Limited | Confidential  |  Confidential  |  Q1 2025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Risks by Severity | Risk Movement | Top 5 Risks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43000"/>
            <a:ext cx="1554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64008" cy="9601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207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Open Risks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9768" y="1417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29768" y="18013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↑3 vs Q4 2024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039112" y="1143000"/>
            <a:ext cx="1554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39112" y="1143000"/>
            <a:ext cx="64008" cy="9601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2148840" y="1207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48840" y="1417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148840" y="18013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↑1 vs Q4 2024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758184" y="1143000"/>
            <a:ext cx="1554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58184" y="1143000"/>
            <a:ext cx="64008" cy="9601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3867912" y="1207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867912" y="1417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867912" y="18013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vs Q4 2024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477256" y="1143000"/>
            <a:ext cx="1554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77256" y="1143000"/>
            <a:ext cx="64008" cy="9601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5586984" y="1207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86984" y="1417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586984" y="18013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↑2 vs Q4 2024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96328" y="1143000"/>
            <a:ext cx="1554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96328" y="1143000"/>
            <a:ext cx="64008" cy="9601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8" name="Text 26"/>
          <p:cNvSpPr/>
          <p:nvPr/>
        </p:nvSpPr>
        <p:spPr>
          <a:xfrm>
            <a:off x="7306056" y="1207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06056" y="1417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306056" y="18013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↓0 vs Q4 2024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0040" y="2240280"/>
            <a:ext cx="8503920" cy="256032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2240280"/>
            <a:ext cx="8366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RISKS REQUIRING BOARD ATTENTION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2542032"/>
            <a:ext cx="3474720" cy="2560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25420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794760" y="2542032"/>
            <a:ext cx="1371600" cy="2560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0" y="25420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166360" y="2542032"/>
            <a:ext cx="1005840" cy="2560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8" name="Text 36"/>
          <p:cNvSpPr/>
          <p:nvPr/>
        </p:nvSpPr>
        <p:spPr>
          <a:xfrm>
            <a:off x="5212080" y="25420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Inherent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172200" y="2542032"/>
            <a:ext cx="1005840" cy="2560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0" y="25420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78040" y="2542032"/>
            <a:ext cx="1097280" cy="2560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0" y="25420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275320" y="2542032"/>
            <a:ext cx="1005840" cy="2560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4" name="Text 42"/>
          <p:cNvSpPr/>
          <p:nvPr/>
        </p:nvSpPr>
        <p:spPr>
          <a:xfrm>
            <a:off x="8321040" y="25420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0040" y="2834640"/>
            <a:ext cx="3474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2834640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Risk — 50% critical vendors unassessed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794760" y="2834640"/>
            <a:ext cx="1371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0" y="2834640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166360" y="2834640"/>
            <a:ext cx="1005840" cy="310896"/>
          </a:xfrm>
          <a:prstGeom prst="rect">
            <a:avLst/>
          </a:prstGeom>
          <a:solidFill>
            <a:srgbClr val="E26B0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0" y="2834640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172200" y="2834640"/>
            <a:ext cx="1005840" cy="310896"/>
          </a:xfrm>
          <a:prstGeom prst="rect">
            <a:avLst/>
          </a:prstGeom>
          <a:solidFill>
            <a:srgbClr val="E26B0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2834640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178040" y="2834640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23760" y="2834640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OVERDUE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275320" y="2834640"/>
            <a:ext cx="1005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21040" y="2834640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25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20040" y="3182112"/>
            <a:ext cx="3474720" cy="310896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3182112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Access — No PAM solution deployed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794760" y="3182112"/>
            <a:ext cx="1371600" cy="310896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40480" y="3182112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Manager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166360" y="3182112"/>
            <a:ext cx="1005840" cy="310896"/>
          </a:xfrm>
          <a:prstGeom prst="rect">
            <a:avLst/>
          </a:prstGeom>
          <a:solidFill>
            <a:srgbClr val="C000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12080" y="3182112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172200" y="3182112"/>
            <a:ext cx="1005840" cy="310896"/>
          </a:xfrm>
          <a:prstGeom prst="rect">
            <a:avLst/>
          </a:prstGeom>
          <a:solidFill>
            <a:srgbClr val="E26B0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17920" y="3182112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7178040" y="3182112"/>
            <a:ext cx="1097280" cy="310896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23760" y="3182112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In Progress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8275320" y="3182112"/>
            <a:ext cx="1005840" cy="310896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21040" y="3182112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25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20040" y="3529584"/>
            <a:ext cx="3474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3529584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 — Flat architecture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794760" y="3529584"/>
            <a:ext cx="1371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840480" y="3529584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Manager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166360" y="3529584"/>
            <a:ext cx="1005840" cy="310896"/>
          </a:xfrm>
          <a:prstGeom prst="rect">
            <a:avLst/>
          </a:prstGeom>
          <a:solidFill>
            <a:srgbClr val="C000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212080" y="3529584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172200" y="3529584"/>
            <a:ext cx="1005840" cy="310896"/>
          </a:xfrm>
          <a:prstGeom prst="rect">
            <a:avLst/>
          </a:prstGeom>
          <a:solidFill>
            <a:srgbClr val="C000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17920" y="3529584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7178040" y="3529584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223760" y="3529584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Not Started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8275320" y="3529584"/>
            <a:ext cx="1005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321040" y="3529584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25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20040" y="3877056"/>
            <a:ext cx="3474720" cy="310896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65760" y="3877056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— Unpatched critical systems (3)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794760" y="3877056"/>
            <a:ext cx="1371600" cy="310896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840480" y="3877056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Manager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5166360" y="3877056"/>
            <a:ext cx="1005840" cy="310896"/>
          </a:xfrm>
          <a:prstGeom prst="rect">
            <a:avLst/>
          </a:prstGeom>
          <a:solidFill>
            <a:srgbClr val="C000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212080" y="3877056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6172200" y="3877056"/>
            <a:ext cx="1005840" cy="310896"/>
          </a:xfrm>
          <a:prstGeom prst="rect">
            <a:avLst/>
          </a:prstGeom>
          <a:solidFill>
            <a:srgbClr val="E26B0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217920" y="3877056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7178040" y="3877056"/>
            <a:ext cx="1097280" cy="310896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223760" y="3877056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In Progress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8275320" y="3877056"/>
            <a:ext cx="1005840" cy="310896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321040" y="3877056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25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320040" y="4224528"/>
            <a:ext cx="3474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65760" y="4224528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 Data Leakage — No AI Use Policy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3794760" y="4224528"/>
            <a:ext cx="13716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840480" y="4224528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5166360" y="4224528"/>
            <a:ext cx="1005840" cy="310896"/>
          </a:xfrm>
          <a:prstGeom prst="rect">
            <a:avLst/>
          </a:prstGeom>
          <a:solidFill>
            <a:srgbClr val="E26B0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212080" y="4224528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6172200" y="4224528"/>
            <a:ext cx="1005840" cy="310896"/>
          </a:xfrm>
          <a:prstGeom prst="rect">
            <a:avLst/>
          </a:prstGeom>
          <a:solidFill>
            <a:srgbClr val="E26B0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217920" y="4224528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7178040" y="4224528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223760" y="4224528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In Progress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8275320" y="4224528"/>
            <a:ext cx="1005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321040" y="4224528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25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06" name="Text 104"/>
          <p:cNvSpPr/>
          <p:nvPr/>
        </p:nvSpPr>
        <p:spPr>
          <a:xfrm>
            <a:off x="274320" y="49011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TechCorp Limited | Confidential  |  Confidential  |  Q1 2025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Status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Compliance Posture — Q1 2025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43000"/>
            <a:ext cx="8503920" cy="256032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43000"/>
            <a:ext cx="8366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COMPLIANCE SCORECARD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4996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27001:2022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7647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of 93 controls gap-identified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331720" y="1554480"/>
            <a:ext cx="4572000" cy="29260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2331720" y="1554480"/>
            <a:ext cx="2834640" cy="292608"/>
          </a:xfrm>
          <a:prstGeom prst="rect">
            <a:avLst/>
          </a:prstGeom>
          <a:solidFill>
            <a:srgbClr val="E26B0A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15544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0" y="1527048"/>
            <a:ext cx="822960" cy="320040"/>
          </a:xfrm>
          <a:prstGeom prst="rect">
            <a:avLst/>
          </a:prstGeom>
          <a:solidFill>
            <a:srgbClr val="E26B0A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15270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66760" y="1527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20040" y="2176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24414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maturity: Tier 2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331720" y="2231136"/>
            <a:ext cx="4572000" cy="29260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" name="Shape 17"/>
          <p:cNvSpPr/>
          <p:nvPr/>
        </p:nvSpPr>
        <p:spPr>
          <a:xfrm>
            <a:off x="2331720" y="2231136"/>
            <a:ext cx="2331720" cy="292608"/>
          </a:xfrm>
          <a:prstGeom prst="rect">
            <a:avLst/>
          </a:prstGeom>
          <a:solidFill>
            <a:srgbClr val="E26B0A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22311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0" y="2203704"/>
            <a:ext cx="822960" cy="320040"/>
          </a:xfrm>
          <a:prstGeom prst="rect">
            <a:avLst/>
          </a:prstGeom>
          <a:solidFill>
            <a:srgbClr val="E26B0A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0" y="220370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220370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Tier 3 by Q3 2025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20040" y="28529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/ UK GDPR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3118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 &amp; RoPA complete. DPO appointed.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331720" y="2907792"/>
            <a:ext cx="4572000" cy="29260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1720" y="2907792"/>
            <a:ext cx="3566160" cy="292608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29077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98080" y="2880360"/>
            <a:ext cx="822960" cy="320040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28803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66760" y="2880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compliance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20040" y="35295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v4.0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37947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QSA engaged. Network segmentation gap critical.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331720" y="3584448"/>
            <a:ext cx="4572000" cy="29260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5" name="Shape 33"/>
          <p:cNvSpPr/>
          <p:nvPr/>
        </p:nvSpPr>
        <p:spPr>
          <a:xfrm>
            <a:off x="2331720" y="3584448"/>
            <a:ext cx="2057400" cy="29260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6995160" y="35844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98080" y="3557016"/>
            <a:ext cx="822960" cy="3200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7498080" y="355701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366760" y="35570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20040" y="4206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CyberEssentials Plus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0040" y="44714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due Oct 2025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331720" y="4261104"/>
            <a:ext cx="4572000" cy="29260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4261104"/>
            <a:ext cx="3749040" cy="292608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44" name="Text 42"/>
          <p:cNvSpPr/>
          <p:nvPr/>
        </p:nvSpPr>
        <p:spPr>
          <a:xfrm>
            <a:off x="6995160" y="42611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498080" y="4233672"/>
            <a:ext cx="822960" cy="320040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46" name="Text 44"/>
          <p:cNvSpPr/>
          <p:nvPr/>
        </p:nvSpPr>
        <p:spPr>
          <a:xfrm>
            <a:off x="7498080" y="42336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66760" y="4233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Oct 2024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9" name="Text 47"/>
          <p:cNvSpPr/>
          <p:nvPr/>
        </p:nvSpPr>
        <p:spPr>
          <a:xfrm>
            <a:off x="274320" y="49011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TechCorp Limited | Confidential  |  Confidential  |  Q1 2025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KPI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— Q1 2025 vs Targets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88720"/>
            <a:ext cx="15727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1572768" cy="82296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" y="1316736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93192" y="181051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93192" y="242316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100%  </a:t>
            </a:r>
            <a:pPr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↑2%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39112" y="1188720"/>
            <a:ext cx="15727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39112" y="1188720"/>
            <a:ext cx="1572768" cy="82296"/>
          </a:xfrm>
          <a:prstGeom prst="rect">
            <a:avLst/>
          </a:prstGeom>
          <a:solidFill>
            <a:srgbClr val="E26B0A"/>
          </a:solidFill>
          <a:ln/>
        </p:spPr>
      </p:sp>
      <p:sp>
        <p:nvSpPr>
          <p:cNvPr id="13" name="Text 11"/>
          <p:cNvSpPr/>
          <p:nvPr/>
        </p:nvSpPr>
        <p:spPr>
          <a:xfrm>
            <a:off x="2112264" y="1316736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Patches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14 Days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112264" y="181051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112264" y="242316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100%  </a:t>
            </a:r>
            <a:pPr indent="0" marL="0">
              <a:buNone/>
            </a:pPr>
            <a:r>
              <a:rPr lang="en-US" sz="90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↓3%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58184" y="1188720"/>
            <a:ext cx="15727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58184" y="1188720"/>
            <a:ext cx="1572768" cy="8229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3831336" y="1316736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Assessments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(Annual)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31336" y="181051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831336" y="242316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100%  </a:t>
            </a:r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↓12%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77256" y="1188720"/>
            <a:ext cx="15727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77256" y="1188720"/>
            <a:ext cx="1572768" cy="82296"/>
          </a:xfrm>
          <a:prstGeom prst="rect">
            <a:avLst/>
          </a:prstGeom>
          <a:solidFill>
            <a:srgbClr val="E26B0A"/>
          </a:solidFill>
          <a:ln/>
        </p:spPr>
      </p:sp>
      <p:sp>
        <p:nvSpPr>
          <p:cNvPr id="23" name="Text 21"/>
          <p:cNvSpPr/>
          <p:nvPr/>
        </p:nvSpPr>
        <p:spPr>
          <a:xfrm>
            <a:off x="5550408" y="1316736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Coverage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Accounts)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550408" y="181051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550408" y="242316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100%  </a:t>
            </a:r>
            <a:pPr indent="0" marL="0">
              <a:buNone/>
            </a:pPr>
            <a:r>
              <a:rPr lang="en-US" sz="90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↑5%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96328" y="1188720"/>
            <a:ext cx="15727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96328" y="1188720"/>
            <a:ext cx="1572768" cy="82296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28" name="Text 26"/>
          <p:cNvSpPr/>
          <p:nvPr/>
        </p:nvSpPr>
        <p:spPr>
          <a:xfrm>
            <a:off x="7269480" y="1316736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Incidents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Within SLA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269480" y="181051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269480" y="242316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100%  </a:t>
            </a:r>
            <a:pPr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2880360"/>
            <a:ext cx="15727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2880360"/>
            <a:ext cx="1572768" cy="8229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393192" y="3008376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Critical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93192" y="350215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393192" y="411480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0  </a:t>
            </a:r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↑1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039112" y="2880360"/>
            <a:ext cx="15727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039112" y="2880360"/>
            <a:ext cx="1572768" cy="82296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38" name="Text 36"/>
          <p:cNvSpPr/>
          <p:nvPr/>
        </p:nvSpPr>
        <p:spPr>
          <a:xfrm>
            <a:off x="2112264" y="3008376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(Monthly)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112264" y="350215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2112264" y="411480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100%  </a:t>
            </a:r>
            <a:pPr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758184" y="2880360"/>
            <a:ext cx="15727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758184" y="2880360"/>
            <a:ext cx="1572768" cy="82296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43" name="Text 41"/>
          <p:cNvSpPr/>
          <p:nvPr/>
        </p:nvSpPr>
        <p:spPr>
          <a:xfrm>
            <a:off x="3831336" y="3008376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 Completed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 Projects)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831336" y="350215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3831336" y="411480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100%  </a:t>
            </a:r>
            <a:pPr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77256" y="2880360"/>
            <a:ext cx="15727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477256" y="2880360"/>
            <a:ext cx="1572768" cy="82296"/>
          </a:xfrm>
          <a:prstGeom prst="rect">
            <a:avLst/>
          </a:prstGeom>
          <a:solidFill>
            <a:srgbClr val="E26B0A"/>
          </a:solidFill>
          <a:ln/>
        </p:spPr>
      </p:sp>
      <p:sp>
        <p:nvSpPr>
          <p:cNvPr id="48" name="Text 46"/>
          <p:cNvSpPr/>
          <p:nvPr/>
        </p:nvSpPr>
        <p:spPr>
          <a:xfrm>
            <a:off x="5550408" y="3008376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Security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(YTD)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550408" y="350215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5550408" y="411480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0  </a:t>
            </a:r>
            <a:pPr indent="0" marL="0">
              <a:buNone/>
            </a:pPr>
            <a:r>
              <a:rPr lang="en-US" sz="90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↑2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196328" y="2880360"/>
            <a:ext cx="157276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196328" y="2880360"/>
            <a:ext cx="1572768" cy="82296"/>
          </a:xfrm>
          <a:prstGeom prst="rect">
            <a:avLst/>
          </a:prstGeom>
          <a:solidFill>
            <a:srgbClr val="E26B0A"/>
          </a:solidFill>
          <a:ln/>
        </p:spPr>
      </p:sp>
      <p:sp>
        <p:nvSpPr>
          <p:cNvPr id="53" name="Text 51"/>
          <p:cNvSpPr/>
          <p:nvPr/>
        </p:nvSpPr>
        <p:spPr>
          <a:xfrm>
            <a:off x="7269480" y="3008376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Review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Rate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269480" y="350215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3000" dirty="0"/>
          </a:p>
        </p:txBody>
      </p:sp>
      <p:sp>
        <p:nvSpPr>
          <p:cNvPr id="55" name="Text 53"/>
          <p:cNvSpPr/>
          <p:nvPr/>
        </p:nvSpPr>
        <p:spPr>
          <a:xfrm>
            <a:off x="7269480" y="411480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100%  </a:t>
            </a:r>
            <a:pPr indent="0" marL="0">
              <a:buNone/>
            </a:pPr>
            <a:r>
              <a:rPr lang="en-US" sz="90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↑8%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7" name="Text 55"/>
          <p:cNvSpPr/>
          <p:nvPr/>
        </p:nvSpPr>
        <p:spPr>
          <a:xfrm>
            <a:off x="274320" y="49011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TechCorp Limited | Confidential  |  Confidential  |  Q1 2025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Incidents — Q1 2025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Summary | Trends | MTTR Performance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70432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64008" cy="9144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9768" y="1444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29768" y="1828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039112" y="1170432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39112" y="1170432"/>
            <a:ext cx="64008" cy="9144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21488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48840" y="1444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148840" y="1828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0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758184" y="1170432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58184" y="1170432"/>
            <a:ext cx="64008" cy="9144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3867912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(P2)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867912" y="1444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867912" y="1828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≤2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477256" y="1170432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77256" y="1170432"/>
            <a:ext cx="64008" cy="9144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5586984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(P3)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86984" y="1444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586984" y="1828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≤10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96328" y="1170432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96328" y="1170432"/>
            <a:ext cx="64008" cy="9144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8" name="Text 26"/>
          <p:cNvSpPr/>
          <p:nvPr/>
        </p:nvSpPr>
        <p:spPr>
          <a:xfrm>
            <a:off x="7306056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(P4)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06056" y="1444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306056" y="1828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≤5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0040" y="2212848"/>
            <a:ext cx="8503920" cy="256032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2212848"/>
            <a:ext cx="8366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INCIDENTS — Q1 2025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2542032"/>
            <a:ext cx="85039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2578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INC-2025-043 — P2 — Phishing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" y="28163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 credential phishing via spoofed supplier email. 2 accounts compromised. Contained within 4 hours. Passwords reset. MFA held.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00800" y="25786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MTTR: 4.5 hrs  |  Status: Contained  |  Owner: SOC / IT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0040" y="3291840"/>
            <a:ext cx="8503920" cy="667512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3284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INC-2025-051 — P2 — Data Exposure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11480" y="3566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report data accidentally shared externally via misconfigured SharePoint link. 127 records. ICO notification not required (pseudonymized).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00800" y="332841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MTTR: 2.0 hrs  |  Status: Resolved  |  Owner: DPO / IT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20040" y="4041648"/>
            <a:ext cx="85039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0782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INC-2025-067 — P2 — Ransomware Attempt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11480" y="43159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execution blocked by endpoint detection on 1 workstation. Isolated immediately. No encryption occurred. Source: malicious email attachment.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400800" y="407822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MTTR: 1.5 hrs  |  Status: Resolved  |  Owner: SOC / IT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49011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TechCorp Limited | Confidential  |  Confidential  |  Q1 2025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Risk Status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Risk Management — Q1 2025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70432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64008" cy="9144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Vendors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9768" y="1444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039112" y="1170432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39112" y="1170432"/>
            <a:ext cx="64008" cy="9144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Tier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48840" y="1444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758184" y="1170432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58184" y="1170432"/>
            <a:ext cx="64008" cy="9144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3867912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Tier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67912" y="1444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77256" y="1170432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77256" y="1170432"/>
            <a:ext cx="64008" cy="9144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5586984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 Due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86984" y="1444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586984" y="1828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196328" y="1170432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96328" y="1170432"/>
            <a:ext cx="64008" cy="9144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5" name="Text 23"/>
          <p:cNvSpPr/>
          <p:nvPr/>
        </p:nvSpPr>
        <p:spPr>
          <a:xfrm>
            <a:off x="7306056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in 12mo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06056" y="1444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306056" y="1828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100%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0040" y="2212848"/>
            <a:ext cx="8503920" cy="256032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2212848"/>
            <a:ext cx="8366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VENDOR RISK STATUS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2542032"/>
            <a:ext cx="2194560" cy="25603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2542032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514600" y="2542032"/>
            <a:ext cx="2011680" cy="25603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3" name="Text 31"/>
          <p:cNvSpPr/>
          <p:nvPr/>
        </p:nvSpPr>
        <p:spPr>
          <a:xfrm>
            <a:off x="2560320" y="2542032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26280" y="2542032"/>
            <a:ext cx="914400" cy="25603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0" y="2542032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40680" y="2542032"/>
            <a:ext cx="1188720" cy="25603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0" y="2542032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Assessed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629400" y="2542032"/>
            <a:ext cx="914400" cy="25603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9" name="Text 37"/>
          <p:cNvSpPr/>
          <p:nvPr/>
        </p:nvSpPr>
        <p:spPr>
          <a:xfrm>
            <a:off x="6675120" y="2542032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543800" y="2542032"/>
            <a:ext cx="2103120" cy="25603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1" name="Text 39"/>
          <p:cNvSpPr/>
          <p:nvPr/>
        </p:nvSpPr>
        <p:spPr>
          <a:xfrm>
            <a:off x="7589520" y="254203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" y="2834640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2834640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CloudPay Solutions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514600" y="2834640"/>
            <a:ext cx="2011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0" y="2834640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SaaS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26280" y="2834640"/>
            <a:ext cx="914400" cy="310896"/>
          </a:xfrm>
          <a:prstGeom prst="rect">
            <a:avLst/>
          </a:prstGeom>
          <a:solidFill>
            <a:srgbClr val="C000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283464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440680" y="2834640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0" y="2834640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2024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629400" y="2834640"/>
            <a:ext cx="914400" cy="310896"/>
          </a:xfrm>
          <a:prstGeom prst="rect">
            <a:avLst/>
          </a:prstGeom>
          <a:solidFill>
            <a:srgbClr val="E26B0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75120" y="283464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543800" y="2834640"/>
            <a:ext cx="2103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89520" y="2834640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encryption controls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20040" y="3182112"/>
            <a:ext cx="2194560" cy="310896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3182112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LegalEagle LLP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514600" y="3182112"/>
            <a:ext cx="2011680" cy="310896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60320" y="3182112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Counsel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526280" y="3182112"/>
            <a:ext cx="914400" cy="310896"/>
          </a:xfrm>
          <a:prstGeom prst="rect">
            <a:avLst/>
          </a:prstGeom>
          <a:solidFill>
            <a:srgbClr val="E26B0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0" y="3182112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440680" y="3182112"/>
            <a:ext cx="1188720" cy="310896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0" y="3182112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629400" y="3182112"/>
            <a:ext cx="914400" cy="310896"/>
          </a:xfrm>
          <a:prstGeom prst="rect">
            <a:avLst/>
          </a:prstGeom>
          <a:solidFill>
            <a:srgbClr val="C000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75120" y="3182112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543800" y="3182112"/>
            <a:ext cx="2103120" cy="310896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89520" y="3182112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assessment — URGENT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20040" y="3529584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3529584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TalentFirst Recruit.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514600" y="3529584"/>
            <a:ext cx="2011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60320" y="3529584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526280" y="3529584"/>
            <a:ext cx="914400" cy="310896"/>
          </a:xfrm>
          <a:prstGeom prst="rect">
            <a:avLst/>
          </a:prstGeom>
          <a:solidFill>
            <a:srgbClr val="E26B0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0" y="3529584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440680" y="3529584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86400" y="3529584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629400" y="3529584"/>
            <a:ext cx="914400" cy="310896"/>
          </a:xfrm>
          <a:prstGeom prst="rect">
            <a:avLst/>
          </a:prstGeom>
          <a:solidFill>
            <a:srgbClr val="C000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675120" y="3529584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7543800" y="3529584"/>
            <a:ext cx="2103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89520" y="3529584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assessment — URGENT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20040" y="3877056"/>
            <a:ext cx="2194560" cy="310896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65760" y="3877056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IT Supp.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514600" y="3877056"/>
            <a:ext cx="2011680" cy="310896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560320" y="3877056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IT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526280" y="3877056"/>
            <a:ext cx="914400" cy="310896"/>
          </a:xfrm>
          <a:prstGeom prst="rect">
            <a:avLst/>
          </a:prstGeom>
          <a:solidFill>
            <a:srgbClr val="C000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72000" y="3877056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5440680" y="3877056"/>
            <a:ext cx="1188720" cy="310896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486400" y="3877056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2024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6629400" y="3877056"/>
            <a:ext cx="914400" cy="310896"/>
          </a:xfrm>
          <a:prstGeom prst="rect">
            <a:avLst/>
          </a:prstGeom>
          <a:solidFill>
            <a:srgbClr val="375623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675120" y="3877056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7543800" y="3877056"/>
            <a:ext cx="2103120" cy="310896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589520" y="3877056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— next review Mar 25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20040" y="4224528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65760" y="422452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SecureCloud Host.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2514600" y="4224528"/>
            <a:ext cx="2011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560320" y="4224528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Co-location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526280" y="4224528"/>
            <a:ext cx="914400" cy="310896"/>
          </a:xfrm>
          <a:prstGeom prst="rect">
            <a:avLst/>
          </a:prstGeom>
          <a:solidFill>
            <a:srgbClr val="C000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572000" y="4224528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5440680" y="4224528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486400" y="4224528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2024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6629400" y="4224528"/>
            <a:ext cx="914400" cy="310896"/>
          </a:xfrm>
          <a:prstGeom prst="rect">
            <a:avLst/>
          </a:prstGeom>
          <a:solidFill>
            <a:srgbClr val="E26B0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675120" y="4224528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7543800" y="4224528"/>
            <a:ext cx="2103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589520" y="4224528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Q1 reassessment now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03" name="Text 101"/>
          <p:cNvSpPr/>
          <p:nvPr/>
        </p:nvSpPr>
        <p:spPr>
          <a:xfrm>
            <a:off x="274320" y="49011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TechCorp Limited | Confidential  |  Confidential  |  Q1 2025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Trend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Rolling Risk Movement — Q3 2024 to Q1 2025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320040" y="114300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143000"/>
            <a:ext cx="3200400" cy="256032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0" y="11430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146304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50992" y="148132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</a:t>
            </a:r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risks increased by 1 in Q1 2025 — vendor risk program gap driving new critical classification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577840" y="2103120"/>
            <a:ext cx="3200400" cy="548640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50992" y="212140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</a:t>
            </a:r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risks increased to 18 — third consecutive quarter of increase. Action plan required.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577840" y="274320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50992" y="276148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</a:t>
            </a:r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risks stable. Ongoing remediation activity absorbing newly identified risks.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577840" y="3383280"/>
            <a:ext cx="3200400" cy="548640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50992" y="340156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</a:t>
            </a:r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risks reducing — effective treatment of minor risks from Q3 remediation programme.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577840" y="402336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50992" y="404164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</a:t>
            </a:r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direction: Risk profile deteriorating. Accelerated remediation action required in Q2 2025.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0" name="Text 17"/>
          <p:cNvSpPr/>
          <p:nvPr/>
        </p:nvSpPr>
        <p:spPr>
          <a:xfrm>
            <a:off x="274320" y="49011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TechCorp Limited | Confidential  |  Confidential  |  Q1 2025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Required — Q2 2025 Priorities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43000"/>
            <a:ext cx="8503920" cy="256032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43000"/>
            <a:ext cx="8366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RECOMMENDED BOARD ACTIONS — Q2 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463040"/>
            <a:ext cx="457200" cy="6217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46304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149961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Vendor Risk Remediation Programme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17556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emergency budget to complete 7 overdue vendor assessments. Engage specialist vendor risk team. Target: all critical vendors assessed by end of March 2025.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989320" y="14996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</a:t>
            </a:r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/ CISO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89320" y="17373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</a:t>
            </a:r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2148840"/>
            <a:ext cx="8503920" cy="621792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148840"/>
            <a:ext cx="457200" cy="6217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14884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218541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PAM Solution Investment (£85k)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24414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procurement of Privileged Access Management solution to eliminate shared admin accounts. Addresses CRITICAL finding FND-005 from Q1 internal audit.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989320" y="21854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</a:t>
            </a:r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/ IT Manager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89320" y="24231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</a:t>
            </a:r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283464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834640"/>
            <a:ext cx="457200" cy="621792"/>
          </a:xfrm>
          <a:prstGeom prst="rect">
            <a:avLst/>
          </a:prstGeom>
          <a:solidFill>
            <a:srgbClr val="E26B0A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83464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2960" y="287121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Network Segmentation Project (£120k)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31272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network redesign project to implement VLAN segmentation. Critical for PCI-DSS compliance and reduces ransomware lateral movement risk significantly.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989320" y="28712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</a:t>
            </a:r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Manager / CISO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89320" y="31089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</a:t>
            </a:r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3520440"/>
            <a:ext cx="8503920" cy="621792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520440"/>
            <a:ext cx="457200" cy="621792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352044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2960" y="355701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Ratify Updated Information Security Policy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" y="38130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ratification of updated Information Security Policy v3.0 (attached). Required for ISO 27001 Clause 5.2 and demonstrates governance accountability.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989320" y="3557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</a:t>
            </a:r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Board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989320" y="37947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</a:t>
            </a:r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Meeting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0040" y="420624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206240"/>
            <a:ext cx="457200" cy="62179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" y="420624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822960" y="424281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ISO 27001 Certification Progress On Track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" y="44988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certification on track for Q4 2025. Stage 1 audit scheduled for August 2025. 62% of controls at required maturity. No board action required — for information.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989320" y="42428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</a:t>
            </a:r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989320" y="44805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</a:t>
            </a:r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9011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TechCorp Limited | Confidential  |  Confidential  |  Q1 2025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 — GRC Programme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474720"/>
          </a:xfrm>
          <a:prstGeom prst="rect">
            <a:avLst/>
          </a:prstGeom>
          <a:solidFill>
            <a:srgbClr val="22457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365760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54864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733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7 overdue vendor assessments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377440"/>
            <a:ext cx="54864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591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PAM solution — Phase 1 (privileged accounts)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3063240"/>
            <a:ext cx="54864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449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network segmentation design phase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3749040"/>
            <a:ext cx="54864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307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ISO 27001 mandatory documentation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55848" y="1188720"/>
            <a:ext cx="2651760" cy="3474720"/>
          </a:xfrm>
          <a:prstGeom prst="rect">
            <a:avLst/>
          </a:prstGeom>
          <a:solidFill>
            <a:srgbClr val="22457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55848" y="1188720"/>
            <a:ext cx="2651760" cy="365760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17" name="Text 15"/>
          <p:cNvSpPr/>
          <p:nvPr/>
        </p:nvSpPr>
        <p:spPr>
          <a:xfrm>
            <a:off x="3447288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93008" y="1691640"/>
            <a:ext cx="54864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630168" y="16733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 network segmentation implementation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93008" y="2377440"/>
            <a:ext cx="54864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3630168" y="23591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Stage 1 Readiness Review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93008" y="3063240"/>
            <a:ext cx="54864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3630168" y="30449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internal audit: Incident Response controls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93008" y="3749040"/>
            <a:ext cx="54864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Text 23"/>
          <p:cNvSpPr/>
          <p:nvPr/>
        </p:nvSpPr>
        <p:spPr>
          <a:xfrm>
            <a:off x="3630168" y="37307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management programme launch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54496" y="1188720"/>
            <a:ext cx="2651760" cy="3474720"/>
          </a:xfrm>
          <a:prstGeom prst="rect">
            <a:avLst/>
          </a:prstGeom>
          <a:solidFill>
            <a:srgbClr val="22457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54496" y="1188720"/>
            <a:ext cx="2651760" cy="365760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28" name="Text 26"/>
          <p:cNvSpPr/>
          <p:nvPr/>
        </p:nvSpPr>
        <p:spPr>
          <a:xfrm>
            <a:off x="6345936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91656" y="1691640"/>
            <a:ext cx="54864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0" name="Text 28"/>
          <p:cNvSpPr/>
          <p:nvPr/>
        </p:nvSpPr>
        <p:spPr>
          <a:xfrm>
            <a:off x="6528816" y="16733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Stage 1 Audit (BSI — provisionally booked)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91656" y="2377440"/>
            <a:ext cx="54864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Text 30"/>
          <p:cNvSpPr/>
          <p:nvPr/>
        </p:nvSpPr>
        <p:spPr>
          <a:xfrm>
            <a:off x="6528816" y="23591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solution fully deployed and operational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91656" y="3063240"/>
            <a:ext cx="54864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4" name="Text 32"/>
          <p:cNvSpPr/>
          <p:nvPr/>
        </p:nvSpPr>
        <p:spPr>
          <a:xfrm>
            <a:off x="6528816" y="30449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solution evaluation and procurement approval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91656" y="3749040"/>
            <a:ext cx="54864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6" name="Text 34"/>
          <p:cNvSpPr/>
          <p:nvPr/>
        </p:nvSpPr>
        <p:spPr>
          <a:xfrm>
            <a:off x="6528816" y="37307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Executive Risk Report to Board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Board Report: July 2025  |  Questions to: grc@techcorp.com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5102352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Cybersecurity Risk Report — Q1 2025</dc:title>
  <dc:subject>PptxGenJS Presentation</dc:subject>
  <dc:creator>GRC Programme</dc:creator>
  <cp:lastModifiedBy>GRC Programme</cp:lastModifiedBy>
  <cp:revision>1</cp:revision>
  <dcterms:created xsi:type="dcterms:W3CDTF">2026-03-11T18:43:09Z</dcterms:created>
  <dcterms:modified xsi:type="dcterms:W3CDTF">2026-03-11T18:43:09Z</dcterms:modified>
</cp:coreProperties>
</file>